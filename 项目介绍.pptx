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0" y="3657600"/>
            <a:ext cx="3657600" cy="365760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Orchestrator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项目全生命周期编排器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协作编排场景下的项目全生命周期管理工具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4389120"/>
            <a:ext cx="2743200" cy="3657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Bundle · 15 个子 Skill · 三大阶段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6035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9B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55448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定位与核心价值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0848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Bundle 设计理念与优势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9B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55448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整体架构与三阶段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2735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个子 Skill 的组织方式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9B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554480" y="4069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1：项目初始化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44622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spec-bootstrap → api-contract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5212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9B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554480" y="5257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2：功能变更与实现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56509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openspec-workflow → git-workflow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9B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22376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3：质量保障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223760" y="20848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debug-helper → environment-manager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2834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9B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22376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Skill 清单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223760" y="32735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个 Skill 一览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9B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7223760" y="4069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Bundle 与权限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223760" y="44622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安装清单与安全模型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5212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9B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223760" y="5257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未来方向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223760" y="56509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三大演进方向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定位与核心价值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POSITION &amp; VALUE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5303520" cy="4754880"/>
          </a:xfrm>
          <a:prstGeom prst="roundRect">
            <a:avLst>
              <a:gd name="adj" fmla="val 1923"/>
            </a:avLst>
          </a:prstGeom>
          <a:solidFill>
            <a:srgbClr val="F2F5F9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核心定位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project-orchestrator 是一个「薄编排层 Skill」，本身不执行具体任务，而是把工作分发到 15 个专职子 Skill。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20040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291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规范驱动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3566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 Spec Kit 的宪法/spec/plan/tasks 流水线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320040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3291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变更管理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3566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 OpenSpec 的提案驱动变更流程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411480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206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设计产出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4480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原型 + 聊天交互调整 + Page Flow + Detail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411480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4206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契约优先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29000" y="4480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OpenAPI 3.1.2 自动生成，贯穿设计与实现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" y="502920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120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5394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 → 设计 → 原型 → 代码 → 验证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502920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5120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29000" y="5394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每个子 Skill 独立可发、可上架、可被引用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与单 Skill 方案对比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5212080" cy="36576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2286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 Skill（巨石）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Skill Bundle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复杂度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SKILL.md &gt; 500 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 &lt; 200 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可复用性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整体打包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子 Skill 独立发布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权限隔离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按最大公约数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按需最小化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故障隔离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一处挂全挂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局部失败不影响整体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维护成本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高（耦合严重）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低（模块化）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整体架构：三阶段 15 Skill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 OVERVIEW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66160" cy="731520"/>
          </a:xfrm>
          <a:prstGeom prst="roundRect">
            <a:avLst>
              <a:gd name="adj" fmla="val 125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项目初始化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从零到可运行的项目骨架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35661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077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spec-bootstrap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35661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107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429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code-patterns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35661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913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931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scaffold-runner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35661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4165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434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ui-design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35661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9194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4937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spec-userstory-to-design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349240"/>
            <a:ext cx="35661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422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5440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api-contract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852160"/>
            <a:ext cx="35661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9253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" y="5943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html-converter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057400" y="5852160"/>
            <a:ext cx="548640" cy="5486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57400" y="59253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389120" y="1463040"/>
            <a:ext cx="3566160" cy="731520"/>
          </a:xfrm>
          <a:prstGeom prst="roundRect">
            <a:avLst>
              <a:gd name="adj" fmla="val 12500"/>
            </a:avLst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0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38912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功能变更与实现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389120" y="2331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提案驱动变更 + 代码落地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389120" y="2834640"/>
            <a:ext cx="35661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80560" y="29077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46320" y="2926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openspec-workflow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389120" y="3337560"/>
            <a:ext cx="35661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80560" y="34107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46320" y="3429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implement-executor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389120" y="3840480"/>
            <a:ext cx="35661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80560" y="3913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846320" y="3931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test-runner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389120" y="4343400"/>
            <a:ext cx="35661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80560" y="44165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846320" y="4434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git-workflow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897880" y="5852160"/>
            <a:ext cx="548640" cy="5486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97880" y="59253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48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8229600" y="1463040"/>
            <a:ext cx="3566160" cy="731520"/>
          </a:xfrm>
          <a:prstGeom prst="roundRect">
            <a:avLst>
              <a:gd name="adj" fmla="val 12500"/>
            </a:avLst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29600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822960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质量保障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8229600" y="2331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稳定性、安全性、合规性保障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229600" y="2834640"/>
            <a:ext cx="35661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21040" y="29077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686800" y="2926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debug-helper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229600" y="3337560"/>
            <a:ext cx="35661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21040" y="34107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686800" y="3429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review-checklist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229600" y="3840480"/>
            <a:ext cx="35661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21040" y="3913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8686800" y="3931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dependency-auditor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229600" y="4343400"/>
            <a:ext cx="35661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21040" y="44165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8686800" y="4434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environment-manager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9738360" y="5852160"/>
            <a:ext cx="548640" cy="5486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738360" y="59253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03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 rot="5400000">
            <a:off x="3977640" y="3840480"/>
            <a:ext cx="274320" cy="274320"/>
          </a:xfrm>
          <a:prstGeom prst="rightTriangle">
            <a:avLst/>
          </a:prstGeom>
          <a:solidFill>
            <a:srgbClr val="C5D5E8"/>
          </a:solidFill>
          <a:ln w="12700">
            <a:solidFill>
              <a:srgbClr val="C5D5E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5400000">
            <a:off x="7818120" y="3840480"/>
            <a:ext cx="274320" cy="274320"/>
          </a:xfrm>
          <a:prstGeom prst="rightTriangle">
            <a:avLst/>
          </a:prstGeom>
          <a:solidFill>
            <a:srgbClr val="C5D5E8"/>
          </a:solidFill>
          <a:ln w="12700">
            <a:solidFill>
              <a:srgbClr val="C5D5E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1：项目初始化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INITIALIZATION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1732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721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14447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从零到可运行的项目骨架，规范先行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sx="100000" sy="100000" kx="0" ky="0" algn="bl" rotWithShape="0" blurRad="50800" dist="25400" dir="2700000">
              <a:srgbClr val="D9E2F3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103120"/>
            <a:ext cx="2697480" cy="73152"/>
          </a:xfrm>
          <a:prstGeom prst="roundRect">
            <a:avLst>
              <a:gd name="adj" fmla="val 10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2860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spec-bootstrap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27432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spec/plan/tasks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218688"/>
            <a:ext cx="1097280" cy="237744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23697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 rot="5400000">
            <a:off x="3264408" y="2651760"/>
            <a:ext cx="182880" cy="228600"/>
          </a:xfrm>
          <a:prstGeom prst="right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210312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sx="100000" sy="100000" kx="0" ky="0" algn="bl" rotWithShape="0" blurRad="50800" dist="25400" dir="2700000">
              <a:srgbClr val="D9E2F3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29000" y="2103120"/>
            <a:ext cx="2697480" cy="73152"/>
          </a:xfrm>
          <a:prstGeom prst="roundRect">
            <a:avLst>
              <a:gd name="adj" fmla="val 10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22860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code-patterns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611880" y="27432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注入代码规范模板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11880" y="3218688"/>
            <a:ext cx="1097280" cy="237744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323697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 rot="5400000">
            <a:off x="6144768" y="2651760"/>
            <a:ext cx="182880" cy="228600"/>
          </a:xfrm>
          <a:prstGeom prst="right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210312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sx="100000" sy="100000" kx="0" ky="0" algn="bl" rotWithShape="0" blurRad="50800" dist="25400" dir="2700000">
              <a:srgbClr val="D9E2F3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2103120"/>
            <a:ext cx="2697480" cy="73152"/>
          </a:xfrm>
          <a:prstGeom prst="roundRect">
            <a:avLst>
              <a:gd name="adj" fmla="val 10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2860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scaffold-runner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92240" y="27432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创建工程脚手架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3218688"/>
            <a:ext cx="1097280" cy="237744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323697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 rot="5400000">
            <a:off x="9025128" y="2651760"/>
            <a:ext cx="182880" cy="228600"/>
          </a:xfrm>
          <a:prstGeom prst="right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89720" y="210312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sx="100000" sy="100000" kx="0" ky="0" algn="bl" rotWithShape="0" blurRad="50800" dist="25400" dir="2700000">
              <a:srgbClr val="D9E2F3">
                <a:alpha val="7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189720" y="2103120"/>
            <a:ext cx="2697480" cy="73152"/>
          </a:xfrm>
          <a:prstGeom prst="roundRect">
            <a:avLst>
              <a:gd name="adj" fmla="val 10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72600" y="22860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ui-design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372600" y="27432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HTML 原型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372600" y="3218688"/>
            <a:ext cx="1097280" cy="237744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72600" y="323697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" y="411480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sx="100000" sy="100000" kx="0" ky="0" algn="bl" rotWithShape="0" blurRad="50800" dist="25400" dir="2700000">
              <a:srgbClr val="D9E2F3">
                <a:alpha val="7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8640" y="4114800"/>
            <a:ext cx="2697480" cy="73152"/>
          </a:xfrm>
          <a:prstGeom prst="roundRect">
            <a:avLst>
              <a:gd name="adj" fmla="val 10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42976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spec-userstory-to-design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31520" y="47548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 Flow + Detail + API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31520" y="5230368"/>
            <a:ext cx="1097280" cy="237744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524865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 rot="5400000">
            <a:off x="3264408" y="4663440"/>
            <a:ext cx="182880" cy="228600"/>
          </a:xfrm>
          <a:prstGeom prst="right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29000" y="411480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sx="100000" sy="100000" kx="0" ky="0" algn="bl" rotWithShape="0" blurRad="50800" dist="25400" dir="2700000">
              <a:srgbClr val="D9E2F3">
                <a:alpha val="7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429000" y="4114800"/>
            <a:ext cx="2697480" cy="73152"/>
          </a:xfrm>
          <a:prstGeom prst="roundRect">
            <a:avLst>
              <a:gd name="adj" fmla="val 10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11880" y="42976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api-contract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3611880" y="47548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OpenAPI 契约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611880" y="5230368"/>
            <a:ext cx="1097280" cy="237744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11880" y="524865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 rot="5400000">
            <a:off x="6144768" y="4663440"/>
            <a:ext cx="182880" cy="228600"/>
          </a:xfrm>
          <a:prstGeom prst="rightTriangl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09360" y="411480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sx="100000" sy="100000" kx="0" ky="0" algn="bl" rotWithShape="0" blurRad="50800" dist="25400" dir="2700000">
              <a:srgbClr val="D9E2F3">
                <a:alpha val="7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309360" y="4114800"/>
            <a:ext cx="2697480" cy="73152"/>
          </a:xfrm>
          <a:prstGeom prst="roundRect">
            <a:avLst>
              <a:gd name="adj" fmla="val 10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92240" y="42976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html-converter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6492240" y="47548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转组件代码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492240" y="5230368"/>
            <a:ext cx="1097280" cy="237744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92240" y="524865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897880" y="3657600"/>
            <a:ext cx="228600" cy="274320"/>
          </a:xfrm>
          <a:prstGeom prst="downArrow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48640" y="585216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每个子 Skill 可独立调用，也可通过 /bootstrap 命令一键执行完整流程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spec-bootstrap &amp; code-patterns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1.1 &amp; 1.2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1732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721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spec-bootstrap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项目规范生成器：从自然语言到结构化 spec/plan/tasks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0779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2880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Clarify — 澄清需求，降低含糊度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337560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6499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3337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Constitution — 生成项目宪法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794760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2219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 — 生成功能规格说明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251960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27939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 — 拆分为实施计划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709160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73659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156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Tasks — 输出任务清单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212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产出文件：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54480" y="5212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.specify/memory/constitution.md  |  specs/001-feature/{spec,plan,tasks}.md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1463040"/>
            <a:ext cx="18288" cy="4846320"/>
          </a:xfrm>
          <a:prstGeom prst="rect">
            <a:avLst/>
          </a:prstGeom>
          <a:solidFill>
            <a:srgbClr val="D9E2F3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code-patterns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40080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代码模式注入器：统一团队编码规范与最佳实践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0" y="2834640"/>
            <a:ext cx="5120640" cy="36576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29077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架构模式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955280" y="29077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分层架构、CQRS、事件驱动等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0" y="3291840"/>
            <a:ext cx="5120640" cy="36576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33649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设计模式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955280" y="33649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Factory、Strategy、Observer 等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0" y="3749040"/>
            <a:ext cx="5120640" cy="36576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38221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命名规范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955280" y="38221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文件、变量、函数命名约定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0" y="4206240"/>
            <a:ext cx="5120640" cy="36576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37960" y="42793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错误处理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统一错误码、异常处理策略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0800" y="4663440"/>
            <a:ext cx="5120640" cy="36576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47365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测试规范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955280" y="47365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单元测试、集成测试约定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00800" y="5212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产出文件：.code-patterns.yaml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scaffold-runner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1.3 · 工程脚手架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1732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721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14447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一键生成可运行的工程脚手架，支持 10+ 技术栈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sx="100000" sy="100000" kx="0" ky="0" algn="bl" rotWithShape="0" blurRad="38100" dist="12700" dir="2700000">
              <a:srgbClr val="E8EDF5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⚛️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25880" y="2331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+ Vite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2697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21031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sx="100000" sy="100000" kx="0" ky="0" algn="bl" rotWithShape="0" blurRad="38100" dist="12700" dir="2700000">
              <a:srgbClr val="E8EDF5">
                <a:alpha val="7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2044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💚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160520" y="2331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+ Vite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60520" y="2697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21031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sx="100000" sy="100000" kx="0" ky="0" algn="bl" rotWithShape="0" blurRad="38100" dist="12700" dir="2700000">
              <a:srgbClr val="E8EDF5">
                <a:alpha val="7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5508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▲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95160" y="2331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Next.js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95160" y="2697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52560" y="21031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sx="100000" sy="100000" kx="0" ky="0" algn="bl" rotWithShape="0" blurRad="38100" dist="12700" dir="2700000">
              <a:srgbClr val="E8EDF5">
                <a:alpha val="7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8972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💚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829800" y="2331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Nuxt 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829800" y="2697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2918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sx="100000" sy="100000" kx="0" ky="0" algn="bl" rotWithShape="0" blurRad="38100" dist="12700" dir="2700000">
              <a:srgbClr val="E8EDF5">
                <a:alpha val="7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580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🔷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325880" y="3520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Nest.js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25880" y="3886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0" y="32918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sx="100000" sy="100000" kx="0" ky="0" algn="bl" rotWithShape="0" blurRad="38100" dist="12700" dir="2700000">
              <a:srgbClr val="E8EDF5">
                <a:alpha val="7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52044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🍃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160520" y="3520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160520" y="3886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32918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sx="100000" sy="100000" kx="0" ky="0" algn="bl" rotWithShape="0" blurRad="38100" dist="12700" dir="2700000">
              <a:srgbClr val="E8EDF5">
                <a:alpha val="7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5508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995160" y="3520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95160" y="3886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052560" y="32918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sx="100000" sy="100000" kx="0" ky="0" algn="bl" rotWithShape="0" blurRad="38100" dist="12700" dir="2700000">
              <a:srgbClr val="E8EDF5">
                <a:alpha val="7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18972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🔷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9829800" y="3520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.NET WebAPI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829800" y="3886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448056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sx="100000" sy="100000" kx="0" ky="0" algn="bl" rotWithShape="0" blurRad="38100" dist="12700" dir="2700000">
              <a:srgbClr val="E8EDF5">
                <a:alpha val="7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85800" y="4663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🦀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1325880" y="4709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Rust (Axum)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325880" y="5074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383280" y="448056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sx="100000" sy="100000" kx="0" ky="0" algn="bl" rotWithShape="0" blurRad="38100" dist="12700" dir="2700000">
              <a:srgbClr val="E8EDF5">
                <a:alpha val="7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520440" y="4663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💙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4160520" y="4709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Flutter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160520" y="5074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17920" y="448056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sx="100000" sy="100000" kx="0" ky="0" algn="bl" rotWithShape="0" blurRad="38100" dist="12700" dir="2700000">
              <a:srgbClr val="E8EDF5">
                <a:alpha val="7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355080" y="4663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⚪</a:t>
            </a:r>
            <a:endParaRPr lang="en-US" sz="2800" dirty="0"/>
          </a:p>
        </p:txBody>
      </p:sp>
      <p:sp>
        <p:nvSpPr>
          <p:cNvPr id="52" name="Text 50"/>
          <p:cNvSpPr/>
          <p:nvPr/>
        </p:nvSpPr>
        <p:spPr>
          <a:xfrm>
            <a:off x="6995160" y="4709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Expo (RN)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995160" y="5074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48640" y="5760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调用官方脚手架，保证规范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834640" y="5760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自动注入 code-patterns 规则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120640" y="5760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支持 pnpm / npm / yarn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406640" y="5760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预配置 ESLint、Prettier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9692640" y="5760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一键安装依赖并启动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ui-design 详解 · 核心能力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1.4 · UI 设计生成器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1732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721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14447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spec.md 生成高保真单文件 HTML 原型，支持聊天式迭代调整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sx="100000" sy="100000" kx="0" ky="0" algn="bl" rotWithShape="0" blurRad="50800" dist="25400" dir="2700000">
              <a:srgbClr val="E8EDF5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103120"/>
            <a:ext cx="2651760" cy="91440"/>
          </a:xfrm>
          <a:prstGeom prst="roundRect">
            <a:avLst>
              <a:gd name="adj" fmla="val 10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774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🎨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48640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原型生成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05840" y="3749040"/>
            <a:ext cx="1737360" cy="18288"/>
          </a:xfrm>
          <a:prstGeom prst="rect">
            <a:avLst/>
          </a:prstGeom>
          <a:solidFill>
            <a:srgbClr val="D9E2F3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977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单文件 HTML 输出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4434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响应式设计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4892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设计系统一致性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5349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多页面支持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210312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sx="100000" sy="100000" kx="0" ky="0" algn="bl" rotWithShape="0" blurRad="50800" dist="25400" dir="2700000">
              <a:srgbClr val="E8EDF5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0" y="2103120"/>
            <a:ext cx="2651760" cy="91440"/>
          </a:xfrm>
          <a:prstGeom prst="roundRect">
            <a:avLst>
              <a:gd name="adj" fmla="val 10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23774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💬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3383280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聊天调整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840480" y="3749040"/>
            <a:ext cx="1737360" cy="18288"/>
          </a:xfrm>
          <a:prstGeom prst="rect">
            <a:avLst/>
          </a:prstGeom>
          <a:solidFill>
            <a:srgbClr val="D9E2F3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3977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自然语言修改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11880" y="4434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Intent → Locate → Apply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11880" y="4892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Diff 预览对比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11880" y="5349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Undo/Redo 支持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210312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sx="100000" sy="100000" kx="0" ky="0" algn="bl" rotWithShape="0" blurRad="50800" dist="25400" dir="2700000">
              <a:srgbClr val="E8EDF5">
                <a:alpha val="7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2103120"/>
            <a:ext cx="2651760" cy="91440"/>
          </a:xfrm>
          <a:prstGeom prst="roundRect">
            <a:avLst>
              <a:gd name="adj" fmla="val 10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23774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6217920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设计系统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675120" y="3749040"/>
            <a:ext cx="1737360" cy="18288"/>
          </a:xfrm>
          <a:prstGeom prst="rect">
            <a:avLst/>
          </a:prstGeom>
          <a:solidFill>
            <a:srgbClr val="D9E2F3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3977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Design Token 管理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46520" y="4434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DTCG 标准兼容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46520" y="4892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主题切换支持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46520" y="5349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组件库可复用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052560" y="210312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sx="100000" sy="100000" kx="0" ky="0" algn="bl" rotWithShape="0" blurRad="50800" dist="25400" dir="2700000">
              <a:srgbClr val="E8EDF5">
                <a:alpha val="7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052560" y="2103120"/>
            <a:ext cx="2651760" cy="91440"/>
          </a:xfrm>
          <a:prstGeom prst="roundRect">
            <a:avLst>
              <a:gd name="adj" fmla="val 10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52560" y="23774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9052560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9509760" y="3749040"/>
            <a:ext cx="1737360" cy="18288"/>
          </a:xfrm>
          <a:prstGeom prst="rect">
            <a:avLst/>
          </a:prstGeom>
          <a:solidFill>
            <a:srgbClr val="D9E2F3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81160" y="3977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prototype/index.html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281160" y="4434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_shared/tokens.css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281160" y="4892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页面截图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281160" y="5349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设计规范文档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ui-design 详解 · 工作流程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 WORKFLOW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1732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721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88720" y="2011680"/>
            <a:ext cx="822960" cy="82296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1488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Intent 理解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429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解析用户调整意图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rot="5400000">
            <a:off x="2670048" y="2286000"/>
            <a:ext cx="182880" cy="228600"/>
          </a:xfrm>
          <a:prstGeom prst="rightTriangl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2011680"/>
            <a:ext cx="822960" cy="82296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1488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834640" y="3017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Locate 定位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834640" y="3429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精确定位需修改的 DOM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rot="5400000">
            <a:off x="4956048" y="2286000"/>
            <a:ext cx="182880" cy="228600"/>
          </a:xfrm>
          <a:prstGeom prst="rightTriangl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2011680"/>
            <a:ext cx="822960" cy="82296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21488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120640" y="3017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 规划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20640" y="3429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制定修改方案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rot="5400000">
            <a:off x="7242048" y="2286000"/>
            <a:ext cx="182880" cy="228600"/>
          </a:xfrm>
          <a:prstGeom prst="rightTriangl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0" y="2011680"/>
            <a:ext cx="822960" cy="82296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21488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406640" y="3017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Apply 应用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06640" y="3429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 HTML/CSS 修改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 rot="5400000">
            <a:off x="9528048" y="2286000"/>
            <a:ext cx="182880" cy="228600"/>
          </a:xfrm>
          <a:prstGeom prst="rightTriangl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32720" y="2011680"/>
            <a:ext cx="822960" cy="82296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32720" y="21488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9692640" y="3017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Verify 验证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692640" y="3429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 + 规则校验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20624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F2F5F9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4343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📥 输入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22960" y="4754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specs/001-feature/spec.md（功能规格）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" y="510235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--pages="登录,看板,周报"（页面列表）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2960" y="544982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--adjust="把卡片从3列改2列"（调整指令）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960" y="579729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现有 prototype/index.html（增量调整）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420624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4343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📤 输出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583680" y="4754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prototype/index.html（自包含单文件）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83680" y="510235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_shared/tokens.css（设计变量）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583680" y="544982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Diff 预览（before/after 对比）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83680" y="579729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调整后的页面截图验证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ui-design 详解 · 设计系统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 SYSTEM &amp; LESSONS LEARNED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1732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721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设计系统架构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514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94560" y="25328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颜色、字号、间距、圆角等基础变量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94560" y="32186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Button、Input、Card、Modal 等基础组件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886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94560" y="39044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Header、Sidebar、Form、Table 等业务模块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572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94560" y="45902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登录页、看板页、详情页等完整页面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18288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实现经验总结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309360" y="2468880"/>
            <a:ext cx="274320" cy="274320"/>
          </a:xfrm>
          <a:prstGeom prst="ellipse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49631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2084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单文件 HTML 策略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20840" y="27249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 CSS/JS 内联，零依赖，方便分享和预览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09360" y="3200400"/>
            <a:ext cx="274320" cy="274320"/>
          </a:xfrm>
          <a:prstGeom prst="ellipse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2278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20840" y="3108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parse5 + csstree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20840" y="34564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AST 精准操作 DOM 和 CSS，避免正则 hack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09360" y="3931920"/>
            <a:ext cx="274320" cy="274320"/>
          </a:xfrm>
          <a:prstGeom prst="ellipse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95935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2084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Style Dictionary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20840" y="4187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 Token 单一数据源，多格式输出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09360" y="4663440"/>
            <a:ext cx="274320" cy="274320"/>
          </a:xfrm>
          <a:prstGeom prst="ellipse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469087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2084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增量定位算法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720840" y="49194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selector → 坐标 → 语义三层定位，准确率 95%+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09360" y="5394960"/>
            <a:ext cx="274320" cy="274320"/>
          </a:xfrm>
          <a:prstGeom prst="ellipse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542239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20840" y="5303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视觉验证闭环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720840" y="56509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修改后自动截图，用 puppeteer 做回归检查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spec-userstory-to-design &amp; api-contract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1.5 &amp; 1.6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1732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721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spec-userstory-to-design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用户故事 → 设计文档 + OpenAPI 契约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5120640" cy="41148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 Flow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29443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页面流转图 + 状态迁移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5120640" cy="41148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429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 Detail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34472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章节详细页面描述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5120640" cy="41148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Mermaid 逻辑图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51760" y="395020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按钮业务逻辑可视化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5120640" cy="41148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34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OpenAPI 初稿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51760" y="44531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从设计推导接口定义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029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产出：docs/design/001-feature/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1463040"/>
            <a:ext cx="18288" cy="4846320"/>
          </a:xfrm>
          <a:prstGeom prst="rect">
            <a:avLst/>
          </a:prstGeom>
          <a:solidFill>
            <a:srgbClr val="D9E2F3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api-contract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40080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OpenAPI 3.1.2 契约生成器 · 契约优先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2834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OpenAPI 3.1.2 标准格式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92240" y="3246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RFC 9457 Problem 错误码规范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92240" y="3657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x-page-id / x-button-id 双向锚定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92240" y="4069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与 Page Detail 自动同步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92240" y="4480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增量更新 + 冲突合并模式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92240" y="4892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Spectral 规则校验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0" y="53949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产出：contracts/openapi.yaml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html-converter &amp; Phase 1 总结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1.7 · WRAP-UP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1732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721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html-converter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原型 → 框架组件代码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50292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443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94560" y="29900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.tsx 组件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50292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538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94560" y="35844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.vue 组件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50292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1330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Svelte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94560" y="41788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.svelte 组件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754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核心技术：recast + parse5 AST 转换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73736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965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 交付物总览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92240" y="2560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  .specify/memory/constitution.md  项目宪法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92240" y="3017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  specs/001-feature/  规范+计划+任务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92240" y="3474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  .code-patterns.yaml  编码规范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92240" y="3931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  src/  可运行工程脚手架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92240" y="4389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  prototype/index.html  UI 原型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92240" y="4846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  docs/design/001-feature/  设计文档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92240" y="5303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  contracts/openapi.yaml  API 契约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92240" y="5760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  components/  框架组件（按需）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2：功能变更与实现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CHANGE &amp; IMPLEMENTATION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1732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721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14447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提案驱动变更，从需求到代码的完整闭环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50800" dist="25400" dir="2700000">
              <a:srgbClr val="E8F5E9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103120"/>
            <a:ext cx="2651760" cy="91440"/>
          </a:xfrm>
          <a:prstGeom prst="roundRect">
            <a:avLst>
              <a:gd name="adj" fmla="val 100000"/>
            </a:avLst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774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48640" y="3200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48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openspec-workflow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提案驱动变更管理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25880" y="448056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 w="6350">
            <a:solidFill>
              <a:srgbClr val="5482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451713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8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rot="5400000">
            <a:off x="3246120" y="3474720"/>
            <a:ext cx="182880" cy="228600"/>
          </a:xfrm>
          <a:prstGeom prst="rightTriangl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29000" y="210312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50800" dist="25400" dir="2700000">
              <a:srgbClr val="E8F5E9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29000" y="2103120"/>
            <a:ext cx="2651760" cy="91440"/>
          </a:xfrm>
          <a:prstGeom prst="roundRect">
            <a:avLst>
              <a:gd name="adj" fmla="val 100000"/>
            </a:avLst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23774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⌨️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3429000" y="3200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48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implement-executor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61188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编码执行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06240" y="448056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 w="6350">
            <a:solidFill>
              <a:srgbClr val="5482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451713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8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rot="5400000">
            <a:off x="6126480" y="3474720"/>
            <a:ext cx="182880" cy="228600"/>
          </a:xfrm>
          <a:prstGeom prst="rightTriangl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210312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50800" dist="25400" dir="2700000">
              <a:srgbClr val="E8F5E9">
                <a:alpha val="7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2103120"/>
            <a:ext cx="2651760" cy="91440"/>
          </a:xfrm>
          <a:prstGeom prst="roundRect">
            <a:avLst>
              <a:gd name="adj" fmla="val 100000"/>
            </a:avLst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23774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🧪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6309360" y="3200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48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test-runner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9224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测试与覆盖率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86600" y="448056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 w="6350">
            <a:solidFill>
              <a:srgbClr val="5482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86600" y="451713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8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rot="5400000">
            <a:off x="9006840" y="3474720"/>
            <a:ext cx="182880" cy="228600"/>
          </a:xfrm>
          <a:prstGeom prst="rightTriangl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89720" y="210312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50800" dist="25400" dir="2700000">
              <a:srgbClr val="E8F5E9">
                <a:alpha val="7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189720" y="2103120"/>
            <a:ext cx="2651760" cy="91440"/>
          </a:xfrm>
          <a:prstGeom prst="roundRect">
            <a:avLst>
              <a:gd name="adj" fmla="val 100000"/>
            </a:avLst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89720" y="23774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🔀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9189720" y="3200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48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git-workflow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37260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+ PR 工作流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966960" y="448056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 w="6350">
            <a:solidFill>
              <a:srgbClr val="5482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66960" y="451713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8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566928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48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OpenSpec 变更四阶段：PROPOSAL → SPEC delta → TASKS → ARCHIVE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implement-executor &amp; test-runner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2.2 &amp; 2.3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1732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721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48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implement-executor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任务执行器：按 task 清单落地代码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2514600" cy="594360"/>
          </a:xfrm>
          <a:prstGeom prst="roundRect">
            <a:avLst>
              <a:gd name="adj" fmla="val 7692"/>
            </a:avLst>
          </a:prstGeom>
          <a:solidFill>
            <a:srgbClr val="F2F5F9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9077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任务拆解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154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tasks.md 逐项执行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4680" y="2834640"/>
            <a:ext cx="2514600" cy="594360"/>
          </a:xfrm>
          <a:prstGeom prst="roundRect">
            <a:avLst>
              <a:gd name="adj" fmla="val 7692"/>
            </a:avLst>
          </a:prstGeom>
          <a:solidFill>
            <a:srgbClr val="F2F5F9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9077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顺序推理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3154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sequential-thinking 多步规划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2514600" cy="594360"/>
          </a:xfrm>
          <a:prstGeom prst="roundRect">
            <a:avLst>
              <a:gd name="adj" fmla="val 7692"/>
            </a:avLst>
          </a:prstGeom>
          <a:solidFill>
            <a:srgbClr val="F2F5F9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6393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契约先行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886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 API 再写实现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3566160"/>
            <a:ext cx="2514600" cy="594360"/>
          </a:xfrm>
          <a:prstGeom prst="roundRect">
            <a:avLst>
              <a:gd name="adj" fmla="val 7692"/>
            </a:avLst>
          </a:prstGeom>
          <a:solidFill>
            <a:srgbClr val="F2F5F9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36393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逐步验证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3886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每完成一个 task 跑测试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297680"/>
            <a:ext cx="2514600" cy="594360"/>
          </a:xfrm>
          <a:prstGeom prst="roundRect">
            <a:avLst>
              <a:gd name="adj" fmla="val 7692"/>
            </a:avLst>
          </a:prstGeom>
          <a:solidFill>
            <a:srgbClr val="F2F5F9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3708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集成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46177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 commit + 消息生成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54680" y="4297680"/>
            <a:ext cx="2514600" cy="594360"/>
          </a:xfrm>
          <a:prstGeom prst="roundRect">
            <a:avLst>
              <a:gd name="adj" fmla="val 7692"/>
            </a:avLst>
          </a:prstGeom>
          <a:solidFill>
            <a:srgbClr val="F2F5F9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43708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错误回退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46177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失败自动回滚到上一稳定点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80760" y="1463040"/>
            <a:ext cx="18288" cy="4846320"/>
          </a:xfrm>
          <a:prstGeom prst="rect">
            <a:avLst/>
          </a:prstGeom>
          <a:solidFill>
            <a:srgbClr val="D9E2F3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1828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48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test-runner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49224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自动化测试执行 + 质量门禁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83680" y="2907792"/>
            <a:ext cx="274320" cy="274320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29260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95160" y="2880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412480" y="29077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Jest / Vitest / pytest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583680" y="3364992"/>
            <a:ext cx="274320" cy="274320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33832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95160" y="3337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集成测试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412480" y="33649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Supertest / Testcontainers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583680" y="3822192"/>
            <a:ext cx="274320" cy="274320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38404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995160" y="3794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契约测试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412480" y="3822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Spectral / Dredd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583680" y="4279392"/>
            <a:ext cx="274320" cy="274320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42976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995160" y="4251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覆盖率检查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412480" y="42793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c8 / coverage.py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583680" y="4736592"/>
            <a:ext cx="274320" cy="274320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0" y="47548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99516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E2E 测试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412480" y="47365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Playwright / Cypress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492240" y="5212080"/>
            <a:ext cx="5029200" cy="73152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75120" y="537667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🚦 质量门禁：覆盖率 ≥ 80%  |  零 Critical 漏洞  |  契约测试全通过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git-workflow &amp; Phase 2 总结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2.4 · WRAP-UP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1732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721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48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git-workflow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规范化 Git 工作流 + PR + Changelog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🔀  Conventional Commits 规范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🔀  自动生成 Changelog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🔀  GitLab / GitHub PR 创建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🔀  Branch 命名约定（feature/、fix/）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4480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🔀  PR 模板 + Review Checklist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4892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🔀  Squash merge + 语义化版本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173736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965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48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 核心流程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2560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提出变更 → openspec-workflow 生成 PROPOSAL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92240" y="3017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评审通过 → SPEC delta + TASKS 拆解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92240" y="3474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implement-executor 按 task 逐行编码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92240" y="3931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test-runner 执行测试 + 覆盖率门禁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92240" y="4389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git-workflow 提交 + 创建 PR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92240" y="4846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review-checklist 评审（Phase 3）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92240" y="5303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合并 → 生成 Changelog → ARCHIVE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3：质量保障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ASSURANCE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1732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721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14447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稳定性、安全性、合规性的全方位保障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38100" dist="12700" dir="2700000">
              <a:srgbClr val="F3E5F5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103120"/>
            <a:ext cx="73152" cy="201168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286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debug-helper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2697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错误根因分析与修复建议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堆栈语义分析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9184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根因定位算法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3520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修复方案生成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91840" y="3520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Sentry 集成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210312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38100" dist="12700" dir="2700000">
              <a:srgbClr val="F3E5F5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2103120"/>
            <a:ext cx="73152" cy="201168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286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review-checklist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2697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 自动化评审清单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代码规范检查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96112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安全漏洞扫描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92240" y="3520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性能反模式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961120" y="3520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可维护性评分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34340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38100" dist="12700" dir="2700000">
              <a:srgbClr val="F3E5F5">
                <a:alpha val="7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4343400"/>
            <a:ext cx="73152" cy="201168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526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dependency-auditor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2960" y="4937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依赖审计与 License 合规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5394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npm audit / pip-audit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291840" y="5394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License 白名单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" y="5760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版本过期提醒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91840" y="5760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漏洞分级报告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17920" y="434340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38100" dist="12700" dir="2700000">
              <a:srgbClr val="F3E5F5">
                <a:alpha val="7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4343400"/>
            <a:ext cx="73152" cy="201168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4526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environment-manager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92240" y="4937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环境变量与 Secrets 管理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92240" y="5394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.env 模板生成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961120" y="5394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Secrets 安全注入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92240" y="5760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环境校验清单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961120" y="5760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Doppler / Vault 集成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Skill 清单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SKILLS OVERVIEW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5120640"/>
        </p:xfrm>
        <a:graphic>
          <a:graphicData uri="http://schemas.openxmlformats.org/drawingml/2006/table">
            <a:tbl>
              <a:tblPr/>
              <a:tblGrid>
                <a:gridCol w="457200"/>
                <a:gridCol w="2377440"/>
                <a:gridCol w="1097280"/>
                <a:gridCol w="2011680"/>
                <a:gridCol w="53035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Skill 名称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核心产出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spec-bootstrap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项目规范生成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spec.md / plan.md / tasks.md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code-patterns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代码规范注入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.code-patterns.yaml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scaffold-runner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工程脚手架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src/ 可运行工程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ui-design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UI 原型生成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prototype/index.html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spec-userstory-to-design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设计文档生成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docs/design/* + openapi.yaml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api-contract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API 契约生成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contracts/openapi.yaml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html-converter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HTML 转组件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components/*.tsx / .vue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openspec-workflow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变更流程管理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openspec/changes/*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implement-executor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编码执行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代码变更 + commit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test-runner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测试执行门禁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测试报告 + 覆盖率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git-workflow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Git/PR 工作流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 + Changelog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debug-helper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错误根因分析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根因报告 + 修复建议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review-checklist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 评审清单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评审报告 + 评分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dependency-auditor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依赖审计合规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审计报告 + License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environment-manager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环境变量管理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.env 模板 + 校验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1463040"/>
            <a:ext cx="11247120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5087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名称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91840" y="1508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38912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1508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核心产出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91840" y="1874520"/>
            <a:ext cx="109728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91840" y="190195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91840" y="2221992"/>
            <a:ext cx="109728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91840" y="224942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91840" y="2569464"/>
            <a:ext cx="109728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91840" y="259689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291840" y="2916936"/>
            <a:ext cx="109728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91840" y="294436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91840" y="3264408"/>
            <a:ext cx="109728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91840" y="32918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91840" y="3611880"/>
            <a:ext cx="109728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91840" y="363931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91840" y="3959352"/>
            <a:ext cx="109728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91840" y="398678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291840" y="4306824"/>
            <a:ext cx="109728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91840" y="433425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8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291840" y="4654296"/>
            <a:ext cx="109728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291840" y="468172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8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291840" y="5001768"/>
            <a:ext cx="109728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291840" y="50292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8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291840" y="5349240"/>
            <a:ext cx="109728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291840" y="53766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8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3291840" y="5696712"/>
            <a:ext cx="109728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291840" y="572414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291840" y="6044184"/>
            <a:ext cx="109728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291840" y="607161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3291840" y="6391656"/>
            <a:ext cx="109728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291840" y="641908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3291840" y="6739128"/>
            <a:ext cx="109728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291840" y="67665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Bundle 安装清单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BUNDLE INSTALLATION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447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按角色订阅不同的 Skill 组合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000000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65960"/>
            <a:ext cx="5394960" cy="91440"/>
          </a:xfrm>
          <a:prstGeom prst="roundRect">
            <a:avLst>
              <a:gd name="adj" fmla="val 100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94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Bundle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937760" y="2148840"/>
            <a:ext cx="685800" cy="6858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228600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适用：全栈开发者 / 架构师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 Skill：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3375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 15 个子 Skill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3703320"/>
            <a:ext cx="1463040" cy="274320"/>
          </a:xfrm>
          <a:prstGeom prst="roundRect">
            <a:avLst>
              <a:gd name="adj" fmla="val 13333"/>
            </a:avLst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37307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推荐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96596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965960"/>
            <a:ext cx="5394960" cy="91440"/>
          </a:xfrm>
          <a:prstGeom prst="roundRect">
            <a:avLst>
              <a:gd name="adj" fmla="val 10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194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Bundle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607040" y="2148840"/>
            <a:ext cx="685800" cy="6858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0" y="228600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9224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适用：前端开发者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 Skill：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33375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spec-bootstrap + scaffold-runner + ui-design + spec-userstory-to-design + html-converter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29768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5482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297680"/>
            <a:ext cx="5394960" cy="91440"/>
          </a:xfrm>
          <a:prstGeom prst="roundRect">
            <a:avLst>
              <a:gd name="adj" fmla="val 100000"/>
            </a:avLst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526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Bundle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937760" y="4480560"/>
            <a:ext cx="685800" cy="685800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461772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22960" y="5029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适用：后端 / API 开发者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5394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 Skill：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" y="56692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spec-bootstrap + api-contract + test-runner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429768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7030A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4297680"/>
            <a:ext cx="5394960" cy="91440"/>
          </a:xfrm>
          <a:prstGeom prst="roundRect">
            <a:avLst>
              <a:gd name="adj" fmla="val 100000"/>
            </a:avLst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4526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 Bundle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0607040" y="4480560"/>
            <a:ext cx="685800" cy="68580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607040" y="461772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492240" y="5029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适用：产品经理 / 设计师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92240" y="5394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 Skill：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92240" y="56692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ui-design + spec-userstory-to-design + review-checklist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权限隔离与安全模型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SECURITY MODEL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3566160" cy="45720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37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路径白名单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Filesystem MCP 级别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3200400" cy="4572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310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 --allowed-dir 限定访问路径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749040"/>
            <a:ext cx="3200400" cy="4572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8587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 禁止访问 ~/.ssh、~/.aws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4297680"/>
            <a:ext cx="3200400" cy="4572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4074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 按 Skill 角色最小化路径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89120" y="1645920"/>
            <a:ext cx="3566160" cy="45720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0" y="164592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1737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89120" y="2011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白名单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389120" y="2697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 级别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3200400"/>
            <a:ext cx="3200400" cy="4572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3310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 按 Skill 角色挂载 MCP Server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0" y="3749040"/>
            <a:ext cx="3200400" cy="4572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38587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 支持 enable/disable 单个 tool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0" y="4297680"/>
            <a:ext cx="3200400" cy="4572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44074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 不同项目不同配置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0" y="1645920"/>
            <a:ext cx="3566160" cy="45720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164592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0" y="1737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0" y="2011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用户审批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229600" y="2697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默认开启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412480" y="3200400"/>
            <a:ext cx="3200400" cy="4572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49640" y="3310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 敏感操作需手动确认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412480" y="3749040"/>
            <a:ext cx="3200400" cy="4572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49640" y="38587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 git push / PR merge 二次校验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412480" y="4297680"/>
            <a:ext cx="3200400" cy="4572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49640" y="44074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 confirmation_required 标志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未来方向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FUTURE ROADMAP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447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三大演进方向，持续提升开发体验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3566160" cy="43891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38100" dir="2700000">
              <a:srgbClr val="2E75B620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1945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深度协作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4290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分工协作，从单人辅助进化为团队协作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4023360"/>
            <a:ext cx="3017520" cy="182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2062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Planner + Executor + Reviewer 三 Agent 协作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46634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Agent 间消息总线与任务分发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5120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基于 Memory 的跨 Session 知识沉淀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5577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Auto-tuning：Agent 自我优化 Prompt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89120" y="2011680"/>
            <a:ext cx="3566160" cy="43891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38100" dir="2700000">
              <a:srgbClr val="54823520">
                <a:alpha val="7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21945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4663440" y="2926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云端编排平台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63440" y="34290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从本地 IDE 扩展到云端，支持团队级项目治理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4023360"/>
            <a:ext cx="3017520" cy="182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42062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项目模板市场（一键复用最佳实践）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63440" y="46634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团队级 Skill 权限与审计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63440" y="5120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跨项目知识图谱与最佳实践沉淀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63440" y="5577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CI/CD 流水线深度集成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9600" y="2011680"/>
            <a:ext cx="3566160" cy="43891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38100" dir="2700000">
              <a:srgbClr val="7030A020">
                <a:alpha val="7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503920" y="21945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503920" y="2926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可观测性与度量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503920" y="34290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量化开发效能，数据驱动持续优化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503920" y="4023360"/>
            <a:ext cx="3017520" cy="182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0" y="42062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开发效能仪表盘（DORA 指标）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503920" y="46634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Skill 调用链路追踪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503920" y="5120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生成质量评分与反馈闭环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503920" y="5577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Cost/Value 分析与 ROI 度量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A：MCP 集成方案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A · MCP INTEGRATION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447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 Context Protocol · AI 应用的 USB-C 接口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Server 选型矩阵</a:t>
            </a:r>
            <a:endParaRPr lang="en-US" sz="17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23160"/>
          <a:ext cx="5943600" cy="41148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173736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Server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级别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 Skill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filesystem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文件读写 + 路径白名单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 15 个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memory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 Skill 知识图谱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spec-bootstrap / openspec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sequential-thinking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动态多步推理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implement-executor / debug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fetch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网页抓取与转换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spec-bootstrap / api-contract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git log/diff/branch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git-workflow / review-checklist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github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PR/Issue 管理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git-workflow / review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puppeteer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浏览器自动化 + 截图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ui-design 视觉验证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orchestrator-tools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 自定义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 个 Skill 核心入口封装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 Skill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2423160"/>
            <a:ext cx="5943600" cy="365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0" y="1920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三层架构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858000" y="2468880"/>
            <a:ext cx="4572000" cy="1005840"/>
          </a:xfrm>
          <a:prstGeom prst="roundRect">
            <a:avLst>
              <a:gd name="adj" fmla="val 7273"/>
            </a:avLst>
          </a:prstGeom>
          <a:solidFill>
            <a:srgbClr val="00000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40880" y="2606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Host 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040880" y="29718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/ Claude Code / Cursor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58000" y="3657600"/>
            <a:ext cx="4572000" cy="1005840"/>
          </a:xfrm>
          <a:prstGeom prst="roundRect">
            <a:avLst>
              <a:gd name="adj" fmla="val 7273"/>
            </a:avLst>
          </a:prstGeom>
          <a:solidFill>
            <a:srgbClr val="000000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40880" y="37947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48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Servers 层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040880" y="4160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filesystem / git / github / orchestrator-tools 等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858000" y="4846320"/>
            <a:ext cx="4572000" cy="1005840"/>
          </a:xfrm>
          <a:prstGeom prst="roundRect">
            <a:avLst>
              <a:gd name="adj" fmla="val 7273"/>
            </a:avLst>
          </a:prstGeom>
          <a:solidFill>
            <a:srgbClr val="00000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0" y="4983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外部资源层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040880" y="5349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文件系统 / Git / GitHub / 浏览器 / 数据库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B：orchestrator-tools 自定义 Server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B · CUSTOM MCP SERVER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/ 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447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15 个 Skill 的核心入口封装为 MCP Tool，一次开发，多处运行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36118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2996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scaffold_run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26771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scaffold-runner · 调用官方脚手架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43400" y="1965960"/>
            <a:ext cx="36118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02996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code_patterns_inject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80560" y="226771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code-patterns · 注入代码规范模板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6118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02996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ui_adjust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75320" y="226771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ui-design · 聊天式 UI 调整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2587752"/>
            <a:ext cx="36118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65176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design_generate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288950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spec-userstory-to-design · 生成设计文档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43400" y="2587752"/>
            <a:ext cx="36118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265176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generate_openapi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0560" y="288950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api-contract · 生成 OpenAPI 契约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38160" y="2587752"/>
            <a:ext cx="36118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265176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html_to_component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75320" y="288950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html-converter · HTML 转组件代码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3209544"/>
            <a:ext cx="36118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27355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openspec_propose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3511296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openspec-workflow · 创建变更提案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43400" y="3209544"/>
            <a:ext cx="36118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327355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implement_task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80560" y="3511296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implement-executor · 执行编码任务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38160" y="3209544"/>
            <a:ext cx="36118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75320" y="327355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run_tests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75320" y="3511296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test-runner · 运行测试 + 覆盖率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3831336"/>
            <a:ext cx="36118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389534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commit_with_changelog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5800" y="413308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git-workflow · 带 Changelog 提交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343400" y="3831336"/>
            <a:ext cx="36118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80560" y="389534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create_pull_request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480560" y="413308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git-workflow · 创建 PR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138160" y="3831336"/>
            <a:ext cx="36118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75320" y="389534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analyze_error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75320" y="413308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debug-helper · 错误根因分析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48640" y="4453128"/>
            <a:ext cx="36118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51713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review_pull_request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85800" y="475488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review-checklist · PR 评审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343400" y="4453128"/>
            <a:ext cx="36118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80560" y="451713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audit_dependencies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480560" y="475488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dependency-auditor · 依赖审计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138160" y="4453128"/>
            <a:ext cx="36118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6350">
            <a:solidFill>
              <a:srgbClr val="D9E2F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75320" y="451713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inject_secrets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275320" y="475488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environment-manager · Secrets 注入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48640" y="585216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1520" y="601675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技术栈：@modelcontextprotocol/sdk  +  TypeScript  +  stdio / Streamable HTTP 传输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0" y="4572000"/>
            <a:ext cx="4114800" cy="411480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感谢观看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B9B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180076" y="4206240"/>
            <a:ext cx="1828800" cy="36576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C7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Orchestrator Bundle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3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个子 Skill · 三大阶段 · 全生命周期编排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 ·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Project Orchestrator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Orchestrator Bundle 介绍</dc:title>
  <dc:subject>项目全生命周期编排器介绍</dc:subject>
  <dc:creator>project-orchestrator-bundle</dc:creator>
  <cp:lastModifiedBy>project-orchestrator-bundle</cp:lastModifiedBy>
  <cp:revision>1</cp:revision>
  <dcterms:created xsi:type="dcterms:W3CDTF">2026-08-24T17:44:13Z</dcterms:created>
  <dcterms:modified xsi:type="dcterms:W3CDTF">2026-08-24T17:44:13Z</dcterms:modified>
</cp:coreProperties>
</file>